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esta diapositiva: explicar la progresión completa del bootcamp en cuatro semanas, sin confundirla con el itinerario de cinco días de la imagen de estilo.
Semana 1: introducir serverless, planes de hospedaje y recursos creados mediante Azure Portal. Preparar Java 21, Maven y Core Tools; implementar HTTP Trigger y Timer Trigger; desplegar y validar trazas en Application Insights. Laboratorio L1: API de solicitudes y mantenimiento programado. Entregables: repositorio Maven, pruebas HTTP, capturas, URL, README y diagrama.
Semana 2: conectar Blob Storage con Blob Trigger, Queue Storage con Queue Trigger y Azure SQL Database con JDBC. Explicar desacoplamiento, reintentos, poison queue e idempotencia. Laboratorio L2: carga de documento, procesamiento asíncrono, persistencia y consulta de estado. Evaluación T1: 20 %.
Semana 3: desarrollar Durable Functions, starter, orchestrator y activity, patrones chaining y fan-out/fan-in, eventos externos waitForExternalEvent/raiseEvent con instanceId, resiliencia y pruebas de fallos. Evaluación T2: 35 %. El sílabo menciona L3 sin descripción: la orquestación como laboratorio es propuesta complementaria.
Semana 4: proteger secretos con Key Vault e identidades administradas, configurar RBAC, instrumentar Application Insights y KQL, pruebas JUnit, GitHub Actions con OIDC y desplegar solución. Evaluación final EF: 45 %. L4 figura sin desarrollo en el sílabo y la integración final es una propuesta.
Dinámica sugerida: pedir a los participantes identificar cómo cada resultado de una semana habilita la siguiente; destacar que las tres evaluaciones se sustentan en evidencias. Fuente principal: sílabo AZURE FUNCTION Java 21, NTTDATA BOOTCAMP AZ-0014,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9B8FF"/>
          </a:solidFill>
          <a:ln w="12700">
            <a:solidFill>
              <a:srgbClr val="39B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2CA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E C O R R I D O   C O M P L E T O   /   A Z U R E   F U N C T I O N 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0408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aprendizaje, 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34456" y="7040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4AB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semanas.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393192" y="1389888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0D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primeros triggers a una solución serverless empresarial con Java 21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8196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8FAA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UNIDADES     •     4 LABORATORIOS     •     3 HITOS DE EVALUACIÓN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329184" y="2350008"/>
            <a:ext cx="2788920" cy="3913632"/>
          </a:xfrm>
          <a:prstGeom prst="roundRect">
            <a:avLst>
              <a:gd name="adj" fmla="val 3934"/>
            </a:avLst>
          </a:prstGeom>
          <a:solidFill>
            <a:srgbClr val="17283B"/>
          </a:solidFill>
          <a:ln w="13970">
            <a:solidFill>
              <a:srgbClr val="6BAF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505456"/>
            <a:ext cx="493776" cy="530352"/>
          </a:xfrm>
          <a:prstGeom prst="roundRect">
            <a:avLst>
              <a:gd name="adj" fmla="val 22222"/>
            </a:avLst>
          </a:prstGeom>
          <a:solidFill>
            <a:srgbClr val="6BAFEF"/>
          </a:solidFill>
          <a:ln w="12700">
            <a:solidFill>
              <a:srgbClr val="6BAFE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254203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992" y="25694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6BA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1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93776" y="3154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950" dirty="0"/>
          </a:p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serverless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93776" y="387705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A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Y PUBLICAR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" y="4233672"/>
            <a:ext cx="2450592" cy="0"/>
          </a:xfrm>
          <a:prstGeom prst="line">
            <a:avLst/>
          </a:prstGeom>
          <a:noFill/>
          <a:ln w="20320">
            <a:solidFill>
              <a:srgbClr val="6BAF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" y="4425696"/>
            <a:ext cx="64008" cy="64008"/>
          </a:xfrm>
          <a:prstGeom prst="ellipse">
            <a:avLst/>
          </a:prstGeom>
          <a:solidFill>
            <a:srgbClr val="6BAFEF"/>
          </a:solidFill>
          <a:ln w="12700">
            <a:solidFill>
              <a:srgbClr val="6BAF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43525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y planes Azure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521208" y="4764024"/>
            <a:ext cx="64008" cy="64008"/>
          </a:xfrm>
          <a:prstGeom prst="ellipse">
            <a:avLst/>
          </a:prstGeom>
          <a:solidFill>
            <a:srgbClr val="6BAFEF"/>
          </a:solidFill>
          <a:ln w="12700">
            <a:solidFill>
              <a:srgbClr val="6BAF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46908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21, Maven y Core Tools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521208" y="5102352"/>
            <a:ext cx="64008" cy="64008"/>
          </a:xfrm>
          <a:prstGeom prst="ellipse">
            <a:avLst/>
          </a:prstGeom>
          <a:solidFill>
            <a:srgbClr val="6BAFEF"/>
          </a:solidFill>
          <a:ln w="12700">
            <a:solidFill>
              <a:srgbClr val="6BAF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502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y Timer Trigger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521208" y="5440680"/>
            <a:ext cx="64008" cy="64008"/>
          </a:xfrm>
          <a:prstGeom prst="ellipse">
            <a:avLst/>
          </a:prstGeom>
          <a:solidFill>
            <a:srgbClr val="6BAFEF"/>
          </a:solidFill>
          <a:ln w="12700">
            <a:solidFill>
              <a:srgbClr val="6BAF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53675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Insights inicial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457200" y="5797296"/>
            <a:ext cx="2532888" cy="292608"/>
          </a:xfrm>
          <a:prstGeom prst="roundRect">
            <a:avLst>
              <a:gd name="adj" fmla="val 37500"/>
            </a:avLst>
          </a:prstGeom>
          <a:solidFill>
            <a:srgbClr val="213951"/>
          </a:solidFill>
          <a:ln w="12700">
            <a:solidFill>
              <a:srgbClr val="21395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5833872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B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 ·  API + mantenimiento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" y="6117336"/>
            <a:ext cx="2459736" cy="265176"/>
          </a:xfrm>
          <a:prstGeom prst="roundRect">
            <a:avLst>
              <a:gd name="adj" fmla="val 41379"/>
            </a:avLst>
          </a:prstGeom>
          <a:solidFill>
            <a:srgbClr val="344B5D"/>
          </a:solidFill>
          <a:ln w="12700">
            <a:solidFill>
              <a:srgbClr val="344B5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6144768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E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ENTREGA: ENDPOINT PUBLICADO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3236976" y="2350008"/>
            <a:ext cx="2788920" cy="3913632"/>
          </a:xfrm>
          <a:prstGeom prst="roundRect">
            <a:avLst>
              <a:gd name="adj" fmla="val 3934"/>
            </a:avLst>
          </a:prstGeom>
          <a:solidFill>
            <a:srgbClr val="142C43"/>
          </a:solidFill>
          <a:ln w="13970">
            <a:solidFill>
              <a:srgbClr val="36BD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505456"/>
            <a:ext cx="493776" cy="530352"/>
          </a:xfrm>
          <a:prstGeom prst="roundRect">
            <a:avLst>
              <a:gd name="adj" fmla="val 22222"/>
            </a:avLst>
          </a:prstGeom>
          <a:solidFill>
            <a:srgbClr val="36BDF0"/>
          </a:solidFill>
          <a:ln w="12700">
            <a:solidFill>
              <a:srgbClr val="36BD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254203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86784" y="25694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36B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2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3401568" y="3154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y</a:t>
            </a:r>
            <a:endParaRPr lang="en-US" sz="1950" dirty="0"/>
          </a:p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3401568" y="387705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6BD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DESACOPLAR Y PERSISTIR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01568" y="4233672"/>
            <a:ext cx="2450592" cy="0"/>
          </a:xfrm>
          <a:prstGeom prst="line">
            <a:avLst/>
          </a:prstGeom>
          <a:noFill/>
          <a:ln w="20320">
            <a:solidFill>
              <a:srgbClr val="36B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4425696"/>
            <a:ext cx="64008" cy="64008"/>
          </a:xfrm>
          <a:prstGeom prst="ellipse">
            <a:avLst/>
          </a:prstGeom>
          <a:solidFill>
            <a:srgbClr val="36BDF0"/>
          </a:solidFill>
          <a:ln w="12700">
            <a:solidFill>
              <a:srgbClr val="36B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57016" y="43525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Trigger + Queue Trigger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3429000" y="4764024"/>
            <a:ext cx="64008" cy="64008"/>
          </a:xfrm>
          <a:prstGeom prst="ellipse">
            <a:avLst/>
          </a:prstGeom>
          <a:solidFill>
            <a:srgbClr val="36BDF0"/>
          </a:solidFill>
          <a:ln w="12700">
            <a:solidFill>
              <a:srgbClr val="36BD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57016" y="46908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Contratos, reintentos, poison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3429000" y="5102352"/>
            <a:ext cx="64008" cy="64008"/>
          </a:xfrm>
          <a:prstGeom prst="ellipse">
            <a:avLst/>
          </a:prstGeom>
          <a:solidFill>
            <a:srgbClr val="36BDF0"/>
          </a:solidFill>
          <a:ln w="12700">
            <a:solidFill>
              <a:srgbClr val="36BD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57016" y="502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SQL + JDBC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3429000" y="5440680"/>
            <a:ext cx="64008" cy="64008"/>
          </a:xfrm>
          <a:prstGeom prst="ellipse">
            <a:avLst/>
          </a:prstGeom>
          <a:solidFill>
            <a:srgbClr val="36BDF0"/>
          </a:solidFill>
          <a:ln w="12700">
            <a:solidFill>
              <a:srgbClr val="36BD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57016" y="53675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Idempotencia y trazabilidad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3364992" y="5797296"/>
            <a:ext cx="2532888" cy="292608"/>
          </a:xfrm>
          <a:prstGeom prst="roundRect">
            <a:avLst>
              <a:gd name="adj" fmla="val 37500"/>
            </a:avLst>
          </a:prstGeom>
          <a:solidFill>
            <a:srgbClr val="213951"/>
          </a:solidFill>
          <a:ln w="12700">
            <a:solidFill>
              <a:srgbClr val="21395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7288" y="5833872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B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  ·  Flujo de documentos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01568" y="6117336"/>
            <a:ext cx="2459736" cy="265176"/>
          </a:xfrm>
          <a:prstGeom prst="roundRect">
            <a:avLst>
              <a:gd name="adj" fmla="val 41379"/>
            </a:avLst>
          </a:prstGeom>
          <a:solidFill>
            <a:srgbClr val="344B5D"/>
          </a:solidFill>
          <a:ln w="12700">
            <a:solidFill>
              <a:srgbClr val="344B5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93008" y="6144768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E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  ·  20 %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6144768" y="2350008"/>
            <a:ext cx="2788920" cy="3913632"/>
          </a:xfrm>
          <a:prstGeom prst="roundRect">
            <a:avLst>
              <a:gd name="adj" fmla="val 3934"/>
            </a:avLst>
          </a:prstGeom>
          <a:solidFill>
            <a:srgbClr val="152A42"/>
          </a:solidFill>
          <a:ln w="13970">
            <a:solidFill>
              <a:srgbClr val="60B7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91072" y="2505456"/>
            <a:ext cx="493776" cy="530352"/>
          </a:xfrm>
          <a:prstGeom prst="roundRect">
            <a:avLst>
              <a:gd name="adj" fmla="val 22222"/>
            </a:avLst>
          </a:prstGeom>
          <a:solidFill>
            <a:srgbClr val="60B7FF"/>
          </a:solidFill>
          <a:ln w="12700">
            <a:solidFill>
              <a:srgbClr val="60B7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54203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894576" y="25694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60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3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6309360" y="3154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</a:t>
            </a:r>
            <a:endParaRPr lang="en-US" sz="1950" dirty="0"/>
          </a:p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6309360" y="387705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0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COORDINAR PROCESOS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9360" y="4233672"/>
            <a:ext cx="2450592" cy="0"/>
          </a:xfrm>
          <a:prstGeom prst="line">
            <a:avLst/>
          </a:prstGeom>
          <a:noFill/>
          <a:ln w="20320">
            <a:solidFill>
              <a:srgbClr val="60B7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6792" y="4425696"/>
            <a:ext cx="64008" cy="64008"/>
          </a:xfrm>
          <a:prstGeom prst="ellipse">
            <a:avLst/>
          </a:prstGeom>
          <a:solidFill>
            <a:srgbClr val="60B7FF"/>
          </a:solidFill>
          <a:ln w="12700">
            <a:solidFill>
              <a:srgbClr val="60B7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64808" y="43525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Starter, Orchestrator, Activity</a:t>
            </a:r>
            <a:endParaRPr lang="en-US" sz="1010" dirty="0"/>
          </a:p>
        </p:txBody>
      </p:sp>
      <p:sp>
        <p:nvSpPr>
          <p:cNvPr id="55" name="Shape 53"/>
          <p:cNvSpPr/>
          <p:nvPr/>
        </p:nvSpPr>
        <p:spPr>
          <a:xfrm>
            <a:off x="6336792" y="4764024"/>
            <a:ext cx="64008" cy="64008"/>
          </a:xfrm>
          <a:prstGeom prst="ellipse">
            <a:avLst/>
          </a:prstGeom>
          <a:solidFill>
            <a:srgbClr val="60B7FF"/>
          </a:solidFill>
          <a:ln w="12700">
            <a:solidFill>
              <a:srgbClr val="60B7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64808" y="46908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Fan-out/fan-in y estados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6336792" y="5102352"/>
            <a:ext cx="64008" cy="64008"/>
          </a:xfrm>
          <a:prstGeom prst="ellipse">
            <a:avLst/>
          </a:prstGeom>
          <a:solidFill>
            <a:srgbClr val="60B7FF"/>
          </a:solidFill>
          <a:ln w="12700">
            <a:solidFill>
              <a:srgbClr val="60B7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64808" y="502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externos y raiseEvent</a:t>
            </a:r>
            <a:endParaRPr lang="en-US" sz="1010" dirty="0"/>
          </a:p>
        </p:txBody>
      </p:sp>
      <p:sp>
        <p:nvSpPr>
          <p:cNvPr id="59" name="Shape 57"/>
          <p:cNvSpPr/>
          <p:nvPr/>
        </p:nvSpPr>
        <p:spPr>
          <a:xfrm>
            <a:off x="6336792" y="5440680"/>
            <a:ext cx="64008" cy="64008"/>
          </a:xfrm>
          <a:prstGeom prst="ellipse">
            <a:avLst/>
          </a:prstGeom>
          <a:solidFill>
            <a:srgbClr val="60B7FF"/>
          </a:solidFill>
          <a:ln w="12700">
            <a:solidFill>
              <a:srgbClr val="60B7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64808" y="53675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Replay, reintentos y fallos</a:t>
            </a:r>
            <a:endParaRPr lang="en-US" sz="1010" dirty="0"/>
          </a:p>
        </p:txBody>
      </p:sp>
      <p:sp>
        <p:nvSpPr>
          <p:cNvPr id="61" name="Shape 59"/>
          <p:cNvSpPr/>
          <p:nvPr/>
        </p:nvSpPr>
        <p:spPr>
          <a:xfrm>
            <a:off x="6272784" y="5797296"/>
            <a:ext cx="2532888" cy="292608"/>
          </a:xfrm>
          <a:prstGeom prst="roundRect">
            <a:avLst>
              <a:gd name="adj" fmla="val 37500"/>
            </a:avLst>
          </a:prstGeom>
          <a:solidFill>
            <a:srgbClr val="213951"/>
          </a:solidFill>
          <a:ln w="12700">
            <a:solidFill>
              <a:srgbClr val="213951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5833872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B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  ·  Orquestación*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09360" y="6117336"/>
            <a:ext cx="2459736" cy="265176"/>
          </a:xfrm>
          <a:prstGeom prst="roundRect">
            <a:avLst>
              <a:gd name="adj" fmla="val 41379"/>
            </a:avLst>
          </a:prstGeom>
          <a:solidFill>
            <a:srgbClr val="344B5D"/>
          </a:solidFill>
          <a:ln w="12700">
            <a:solidFill>
              <a:srgbClr val="344B5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6144768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E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  ·  35 %</a:t>
            </a:r>
            <a:endParaRPr lang="en-US" sz="870" dirty="0"/>
          </a:p>
        </p:txBody>
      </p:sp>
      <p:sp>
        <p:nvSpPr>
          <p:cNvPr id="65" name="Shape 63"/>
          <p:cNvSpPr/>
          <p:nvPr/>
        </p:nvSpPr>
        <p:spPr>
          <a:xfrm>
            <a:off x="9052560" y="2350008"/>
            <a:ext cx="2788920" cy="3913632"/>
          </a:xfrm>
          <a:prstGeom prst="roundRect">
            <a:avLst>
              <a:gd name="adj" fmla="val 3934"/>
            </a:avLst>
          </a:prstGeom>
          <a:solidFill>
            <a:srgbClr val="182C36"/>
          </a:solidFill>
          <a:ln w="13970">
            <a:solidFill>
              <a:srgbClr val="7BDE8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98864" y="2505456"/>
            <a:ext cx="493776" cy="530352"/>
          </a:xfrm>
          <a:prstGeom prst="roundRect">
            <a:avLst>
              <a:gd name="adj" fmla="val 22222"/>
            </a:avLst>
          </a:prstGeom>
          <a:solidFill>
            <a:srgbClr val="7BDE84"/>
          </a:solidFill>
          <a:ln w="12700">
            <a:solidFill>
              <a:srgbClr val="7BDE84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62872" y="254203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0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9802368" y="25694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7BDE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</a:t>
            </a:r>
            <a:endParaRPr lang="en-US" sz="1020" dirty="0"/>
          </a:p>
        </p:txBody>
      </p:sp>
      <p:sp>
        <p:nvSpPr>
          <p:cNvPr id="69" name="Text 67"/>
          <p:cNvSpPr/>
          <p:nvPr/>
        </p:nvSpPr>
        <p:spPr>
          <a:xfrm>
            <a:off x="9217152" y="3154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Seguridad,</a:t>
            </a:r>
            <a:endParaRPr lang="en-US" sz="1950" dirty="0"/>
          </a:p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 y cierre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9217152" y="387705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7BDE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 Y OPERAR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217152" y="4233672"/>
            <a:ext cx="2450592" cy="0"/>
          </a:xfrm>
          <a:prstGeom prst="line">
            <a:avLst/>
          </a:prstGeom>
          <a:noFill/>
          <a:ln w="20320">
            <a:solidFill>
              <a:srgbClr val="7BDE8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44584" y="4425696"/>
            <a:ext cx="64008" cy="64008"/>
          </a:xfrm>
          <a:prstGeom prst="ellipse">
            <a:avLst/>
          </a:prstGeom>
          <a:solidFill>
            <a:srgbClr val="7BDE84"/>
          </a:solidFill>
          <a:ln w="12700">
            <a:solidFill>
              <a:srgbClr val="7BDE8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72600" y="43525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Vault, identidad y RBAC</a:t>
            </a:r>
            <a:endParaRPr lang="en-US" sz="1010" dirty="0"/>
          </a:p>
        </p:txBody>
      </p:sp>
      <p:sp>
        <p:nvSpPr>
          <p:cNvPr id="74" name="Shape 72"/>
          <p:cNvSpPr/>
          <p:nvPr/>
        </p:nvSpPr>
        <p:spPr>
          <a:xfrm>
            <a:off x="9244584" y="4764024"/>
            <a:ext cx="64008" cy="64008"/>
          </a:xfrm>
          <a:prstGeom prst="ellipse">
            <a:avLst/>
          </a:prstGeom>
          <a:solidFill>
            <a:srgbClr val="7BDE84"/>
          </a:solidFill>
          <a:ln w="12700">
            <a:solidFill>
              <a:srgbClr val="7BDE8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72600" y="46908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Métricas, trazas y KQL</a:t>
            </a:r>
            <a:endParaRPr lang="en-US" sz="1010" dirty="0"/>
          </a:p>
        </p:txBody>
      </p:sp>
      <p:sp>
        <p:nvSpPr>
          <p:cNvPr id="76" name="Shape 74"/>
          <p:cNvSpPr/>
          <p:nvPr/>
        </p:nvSpPr>
        <p:spPr>
          <a:xfrm>
            <a:off x="9244584" y="5102352"/>
            <a:ext cx="64008" cy="64008"/>
          </a:xfrm>
          <a:prstGeom prst="ellipse">
            <a:avLst/>
          </a:prstGeom>
          <a:solidFill>
            <a:srgbClr val="7BDE84"/>
          </a:solidFill>
          <a:ln w="12700">
            <a:solidFill>
              <a:srgbClr val="7BDE8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72600" y="502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JUnit + GitHub Actions</a:t>
            </a:r>
            <a:endParaRPr lang="en-US" sz="1010" dirty="0"/>
          </a:p>
        </p:txBody>
      </p:sp>
      <p:sp>
        <p:nvSpPr>
          <p:cNvPr id="78" name="Shape 76"/>
          <p:cNvSpPr/>
          <p:nvPr/>
        </p:nvSpPr>
        <p:spPr>
          <a:xfrm>
            <a:off x="9244584" y="5440680"/>
            <a:ext cx="64008" cy="64008"/>
          </a:xfrm>
          <a:prstGeom prst="ellipse">
            <a:avLst/>
          </a:prstGeom>
          <a:solidFill>
            <a:srgbClr val="7BDE84"/>
          </a:solidFill>
          <a:ln w="12700">
            <a:solidFill>
              <a:srgbClr val="7BDE8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72600" y="53675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0E9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Despliegue y sustentación</a:t>
            </a:r>
            <a:endParaRPr lang="en-US" sz="1010" dirty="0"/>
          </a:p>
        </p:txBody>
      </p:sp>
      <p:sp>
        <p:nvSpPr>
          <p:cNvPr id="80" name="Shape 78"/>
          <p:cNvSpPr/>
          <p:nvPr/>
        </p:nvSpPr>
        <p:spPr>
          <a:xfrm>
            <a:off x="9180576" y="5797296"/>
            <a:ext cx="2532888" cy="292608"/>
          </a:xfrm>
          <a:prstGeom prst="roundRect">
            <a:avLst>
              <a:gd name="adj" fmla="val 37500"/>
            </a:avLst>
          </a:prstGeom>
          <a:solidFill>
            <a:srgbClr val="213951"/>
          </a:solidFill>
          <a:ln w="12700">
            <a:solidFill>
              <a:srgbClr val="213951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262872" y="5833872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B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 ·  Integración final*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217152" y="6117336"/>
            <a:ext cx="2459736" cy="265176"/>
          </a:xfrm>
          <a:prstGeom prst="roundRect">
            <a:avLst>
              <a:gd name="adj" fmla="val 41379"/>
            </a:avLst>
          </a:prstGeom>
          <a:solidFill>
            <a:srgbClr val="2E5C42"/>
          </a:solidFill>
          <a:ln w="12700">
            <a:solidFill>
              <a:srgbClr val="2E5C42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308592" y="6144768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A7F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  ·  45 %</a:t>
            </a:r>
            <a:endParaRPr lang="en-US" sz="870" dirty="0"/>
          </a:p>
        </p:txBody>
      </p:sp>
      <p:sp>
        <p:nvSpPr>
          <p:cNvPr id="84" name="Text 82"/>
          <p:cNvSpPr/>
          <p:nvPr/>
        </p:nvSpPr>
        <p:spPr>
          <a:xfrm>
            <a:off x="402336" y="646480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1A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L3 y L4: laboratorios propuestos; el sílabo no detalla sus actividades.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9893808" y="645566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dirty="0">
                <a:solidFill>
                  <a:srgbClr val="B9CD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BOOTCAMP AZ-0014  |  JAVA 21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 de aprendizaje | 4 semanas</dc:title>
  <dc:subject>Ruta de aprendizaje Azure Functions + Java 21</dc:subject>
  <dc:creator>OpenAI</dc:creator>
  <cp:lastModifiedBy>OpenAI</cp:lastModifiedBy>
  <cp:revision>1</cp:revision>
  <dcterms:created xsi:type="dcterms:W3CDTF">2026-10-16T14:22:28Z</dcterms:created>
  <dcterms:modified xsi:type="dcterms:W3CDTF">2026-10-16T14:22:28Z</dcterms:modified>
</cp:coreProperties>
</file>